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niel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502920"/>
            <a:ext cx="1965960" cy="85039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737360"/>
            <a:ext cx="9144000" cy="25146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1874520"/>
            <a:ext cx="8412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OF AN AXI4-LITE</a:t>
            </a:r>
            <a:endParaRPr lang="en-US" sz="3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TIMER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365760" y="31272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INTERRUPT OUTPUT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65760" y="3657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Functional Verification  +  SpyGlass Static Lint / CDC Sign-off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SystemVerilog RTL   •   UVM-1.2 Testbench   •   VCS + Verdi   •   SpyGlass Lint &amp; CDC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59893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Keerthi  |  VLSI / Semiconductor Intern, NIELIT Chennai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6309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29/07/2026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niel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265176"/>
            <a:ext cx="1170432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44752" y="329184"/>
            <a:ext cx="7296912" cy="438912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4" name="Text 1"/>
          <p:cNvSpPr/>
          <p:nvPr/>
        </p:nvSpPr>
        <p:spPr>
          <a:xfrm>
            <a:off x="1444752" y="329184"/>
            <a:ext cx="7296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538235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510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29/07/2026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560320" y="6510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Timer Verification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83680" y="6510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105156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 Architecture (Top Module)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Map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Core — Counting Behaviour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Clock-Domain-Crossing Strategy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105156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Verification Environment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Verification Flow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 Waveform Walkthrough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Sign-off — Lint &amp; CDC (SpyGlass)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Bug-Injection Study — Method &amp; Results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Key Learnings &amp; Summary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niel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265176"/>
            <a:ext cx="1170432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44752" y="329184"/>
            <a:ext cx="7296912" cy="438912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4" name="Text 1"/>
          <p:cNvSpPr/>
          <p:nvPr/>
        </p:nvSpPr>
        <p:spPr>
          <a:xfrm>
            <a:off x="1444752" y="329184"/>
            <a:ext cx="7296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538235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510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29/07/2026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560320" y="6510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Timer Verification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83680" y="6510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105156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 programmable timer peripheral with an AXI4-Lite slave port and a level-sensitive interrupt output, whose control logic and counter live in two independent, asynchronous clock domains — using a UVM testbench for functional closure and SpyGlass static analysis (lint + CDC) for structural sign-off. A set of deliberately injected bugs is then used to measure, with real data, what each method actually catches.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2587752" cy="384048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251460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Dual-Clock DUT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898648"/>
            <a:ext cx="2587752" cy="1536192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13" name="Text 10"/>
          <p:cNvSpPr/>
          <p:nvPr/>
        </p:nvSpPr>
        <p:spPr>
          <a:xfrm>
            <a:off x="676656" y="2971800"/>
            <a:ext cx="23317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bus clock (s_axi_aclk) and an independent timer_clk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asynchronous — no shared source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crossing built from reusable, verified sync primitives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273552" y="2514600"/>
            <a:ext cx="2587752" cy="384048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15" name="Text 12"/>
          <p:cNvSpPr/>
          <p:nvPr/>
        </p:nvSpPr>
        <p:spPr>
          <a:xfrm>
            <a:off x="3346704" y="251460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AXI4-Lite Compliant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273552" y="2898648"/>
            <a:ext cx="2587752" cy="1536192"/>
          </a:xfrm>
          <a:prstGeom prst="rect">
            <a:avLst/>
          </a:prstGeom>
          <a:solidFill>
            <a:srgbClr val="E2EFDA"/>
          </a:solidFill>
          <a:ln/>
        </p:spPr>
      </p:sp>
      <p:sp>
        <p:nvSpPr>
          <p:cNvPr id="17" name="Text 14"/>
          <p:cNvSpPr/>
          <p:nvPr/>
        </p:nvSpPr>
        <p:spPr>
          <a:xfrm>
            <a:off x="3401568" y="2971800"/>
            <a:ext cx="23317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write-address / write-data / write-response FSM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read-address / read-data FSM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Word-aligned 4-register map, W1C status bit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998464" y="2514600"/>
            <a:ext cx="2587752" cy="384048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19" name="Text 16"/>
          <p:cNvSpPr/>
          <p:nvPr/>
        </p:nvSpPr>
        <p:spPr>
          <a:xfrm>
            <a:off x="6071616" y="251460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Verification Lenses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998464" y="2898648"/>
            <a:ext cx="2587752" cy="1536192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21" name="Text 18"/>
          <p:cNvSpPr/>
          <p:nvPr/>
        </p:nvSpPr>
        <p:spPr>
          <a:xfrm>
            <a:off x="6126480" y="2971800"/>
            <a:ext cx="23317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Dynamic: UVM functional simulation (VCS)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SpyGlass lint + CDC structural checks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bug-for-bug across 7 injected defects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niel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265176"/>
            <a:ext cx="1170432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44752" y="329184"/>
            <a:ext cx="7296912" cy="438912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4" name="Text 1"/>
          <p:cNvSpPr/>
          <p:nvPr/>
        </p:nvSpPr>
        <p:spPr>
          <a:xfrm>
            <a:off x="1444752" y="329184"/>
            <a:ext cx="7296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 Architecture — Top Module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538235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510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29/07/2026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560320" y="6510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Timer Verification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83680" y="6510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005840"/>
            <a:ext cx="3931920" cy="5120640"/>
          </a:xfrm>
          <a:prstGeom prst="rect">
            <a:avLst/>
          </a:prstGeom>
          <a:solidFill>
            <a:srgbClr val="D9E2F3"/>
          </a:solidFill>
          <a:ln w="15875">
            <a:solidFill>
              <a:srgbClr val="2E54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0607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DOMAIN  (s_axi_aclk)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1463040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2E5496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14630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AXI4-Lite Master (TB Driver)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s_axi_aw / w / b / ar / r channels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286000" y="2286000"/>
            <a:ext cx="320040" cy="256032"/>
          </a:xfrm>
          <a:prstGeom prst="downArrow">
            <a:avLst/>
          </a:prstGeom>
          <a:solidFill>
            <a:srgbClr val="2E5496"/>
          </a:solidFill>
          <a:ln/>
        </p:spPr>
      </p:sp>
      <p:sp>
        <p:nvSpPr>
          <p:cNvPr id="14" name="Shape 11"/>
          <p:cNvSpPr/>
          <p:nvPr/>
        </p:nvSpPr>
        <p:spPr>
          <a:xfrm>
            <a:off x="731520" y="265176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651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register_bank (u_regs)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/ LOAD / COUNT / STATUS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+ Read FSMs, cfg_update_pulse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286000" y="3611880"/>
            <a:ext cx="320040" cy="256032"/>
          </a:xfrm>
          <a:prstGeom prst="downArrow">
            <a:avLst/>
          </a:prstGeom>
          <a:solidFill>
            <a:srgbClr val="2E5496"/>
          </a:solidFill>
          <a:ln/>
        </p:spPr>
      </p:sp>
      <p:sp>
        <p:nvSpPr>
          <p:cNvPr id="17" name="Shape 14"/>
          <p:cNvSpPr/>
          <p:nvPr/>
        </p:nvSpPr>
        <p:spPr>
          <a:xfrm>
            <a:off x="731520" y="3977640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977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irq = STATUS.INTR &amp; CTRL.IE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(level interrupt to system)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9436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count_sync_axi (COUNT, read-back)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94360" y="5166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irq_pulse_sync_axi → sets STATUS.INTR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9436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cfg_en / cfg_mode / cfg_load (RW config)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94360" y="5715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cfg_update_pulse (1-cycle, on CTRL/LOAD write)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26280" y="1005840"/>
            <a:ext cx="1920240" cy="5120640"/>
          </a:xfrm>
          <a:prstGeom prst="rect">
            <a:avLst/>
          </a:prstGeom>
          <a:solidFill>
            <a:srgbClr val="FFF2CC"/>
          </a:solidFill>
          <a:ln w="15875">
            <a:solidFill>
              <a:srgbClr val="BF8F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26280" y="10607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BRIDGE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663440" y="1463040"/>
            <a:ext cx="16459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BF8F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09160" y="146304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u_cfg_sync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toggle_sync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663440" y="2331720"/>
            <a:ext cx="16459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BF8F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09160" y="233172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u_en_sync / u_mode_sync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2FF sync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63440" y="3200400"/>
            <a:ext cx="16459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BF8F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09160" y="320040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u_load_sync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2FF sync (32b)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663440" y="4069080"/>
            <a:ext cx="16459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BF8F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09160" y="406908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u_count_sync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gray_ctr_sync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663440" y="4937760"/>
            <a:ext cx="16459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BF8F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09160" y="493776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u_irq_sync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toggle_sync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583680" y="1005840"/>
            <a:ext cx="2103120" cy="5120640"/>
          </a:xfrm>
          <a:prstGeom prst="rect">
            <a:avLst/>
          </a:prstGeom>
          <a:solidFill>
            <a:srgbClr val="E2EFDA"/>
          </a:solidFill>
          <a:ln w="15875">
            <a:solidFill>
              <a:srgbClr val="53823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83680" y="10607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3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DOMAIN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53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(timer_clk)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720840" y="2651760"/>
            <a:ext cx="1828800" cy="1371600"/>
          </a:xfrm>
          <a:prstGeom prst="roundRect">
            <a:avLst>
              <a:gd name="adj" fmla="val 4000"/>
            </a:avLst>
          </a:prstGeom>
          <a:solidFill>
            <a:srgbClr val="538235"/>
          </a:solidFill>
          <a:ln/>
        </p:spPr>
      </p:sp>
      <p:sp>
        <p:nvSpPr>
          <p:cNvPr id="38" name="Text 35"/>
          <p:cNvSpPr/>
          <p:nvPr/>
        </p:nvSpPr>
        <p:spPr>
          <a:xfrm>
            <a:off x="6784848" y="2651760"/>
            <a:ext cx="1700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timer_core (u_timer)</a:t>
            </a:r>
            <a:endParaRPr lang="en-US" sz="1050" dirty="0"/>
          </a:p>
          <a:p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count_q: down-counter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irq_pulse: 1-cyc @ expiry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457200" y="6108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logic in register_bank owns the AXI protocol; every CTRL/LOAD write raises a one-cycle cfg_update_pulse that is toggle-synchronised into timer_clk as one atomic bundle, so timer_core never samples a half-updated configuration. count and irq return the same way.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niel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265176"/>
            <a:ext cx="1170432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44752" y="329184"/>
            <a:ext cx="7296912" cy="438912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4" name="Text 1"/>
          <p:cNvSpPr/>
          <p:nvPr/>
        </p:nvSpPr>
        <p:spPr>
          <a:xfrm>
            <a:off x="1444752" y="329184"/>
            <a:ext cx="7296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Map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538235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510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29/07/2026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560320" y="6510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Timer Verification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83680" y="6510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10058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Word-aligned, addr[3:2] selects the register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371600"/>
                <a:gridCol w="822960"/>
                <a:gridCol w="40233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Offset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Register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Bits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</a:rPr>
                        <a:t>0x0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1F1F"/>
                          </a:solidFill>
                        </a:rPr>
                        <a:t>CTRL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</a:rPr>
                        <a:t>[0] EN</a:t>
                      </a:r>
                      <a:endParaRPr lang="en-US" sz="1150" dirty="0"/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</a:rPr>
                        <a:t>[1] MODE</a:t>
                      </a:r>
                      <a:endParaRPr lang="en-US" sz="1150" dirty="0"/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</a:rPr>
                        <a:t>[2] IE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</a:rPr>
                        <a:t>RW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</a:rPr>
                        <a:t>EN = enable, MODE (0=periodic,1=one-shot), IE = interrupt enable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</a:rPr>
                        <a:t>0x4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1F1F"/>
                          </a:solidFill>
                        </a:rPr>
                        <a:t>LOAD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</a:rPr>
                        <a:t>[31:0]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</a:rPr>
                        <a:t>RW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</a:rPr>
                        <a:t>Reload / countdown-start value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</a:rPr>
                        <a:t>0x8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1F1F"/>
                          </a:solidFill>
                        </a:rPr>
                        <a:t>COUNT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</a:rPr>
                        <a:t>[31:0]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</a:rPr>
                        <a:t>RO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</a:rPr>
                        <a:t>Live count, Gray-code synchronised from the timer domain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</a:rPr>
                        <a:t>0xC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1F1F"/>
                          </a:solidFill>
                        </a:rPr>
                        <a:t>STATUS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</a:rPr>
                        <a:t>[0] INTR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</a:rPr>
                        <a:t>W1C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</a:rPr>
                        <a:t>Sticky interrupt flag; write 1 to clear (write 0 = no effect)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4617720"/>
            <a:ext cx="8046720" cy="384048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12" name="Text 8"/>
          <p:cNvSpPr/>
          <p:nvPr/>
        </p:nvSpPr>
        <p:spPr>
          <a:xfrm>
            <a:off x="621792" y="4617720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Generation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5001768"/>
            <a:ext cx="8046720" cy="1216152"/>
          </a:xfrm>
          <a:prstGeom prst="rect">
            <a:avLst/>
          </a:prstGeom>
          <a:solidFill>
            <a:srgbClr val="E2EFDA"/>
          </a:solidFill>
          <a:ln/>
        </p:spPr>
      </p:sp>
      <p:sp>
        <p:nvSpPr>
          <p:cNvPr id="14" name="Text 10"/>
          <p:cNvSpPr/>
          <p:nvPr/>
        </p:nvSpPr>
        <p:spPr>
          <a:xfrm>
            <a:off x="676656" y="5074920"/>
            <a:ext cx="779068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irq = STATUS.INTR AND CTRL.IE — a level output, not a pulse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STATUS.INTR is set by the synchronised irq_pulse arriving from timer_clk, and cleared only by an explicit write of 1 to STATUS[0] from software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COUNT returns the live down-counter value, safely crossed from timer_clk using a Gray-coded synchroniser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niel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265176"/>
            <a:ext cx="1170432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44752" y="329184"/>
            <a:ext cx="7296912" cy="438912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4" name="Text 1"/>
          <p:cNvSpPr/>
          <p:nvPr/>
        </p:nvSpPr>
        <p:spPr>
          <a:xfrm>
            <a:off x="1444752" y="329184"/>
            <a:ext cx="7296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Core — What It's Actually Doing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538235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510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29/07/2026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560320" y="6510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Timer Verification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83680" y="6510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10058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entirely in timer_clk, asynchronous to the AXI bus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1325880"/>
            <a:ext cx="4114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cfg_update_pulse (one synchronised cycle after a CTRL or LOAD write) the core latches EN, MODE and LOAD together, and loads count_q = LOAD — this is where counting starts, from whatever value software wrote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EN = 1, count_q decrements by 1 on every timer_clk edge — it is counting timer_clk cycles down to zero, nothing else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count_q reaches 0, irq_pulse is asserted for exactly one cycle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892040" y="1371600"/>
            <a:ext cx="566928" cy="4572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13716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58968" y="1481328"/>
            <a:ext cx="91440" cy="237744"/>
          </a:xfrm>
          <a:prstGeom prst="rightArrow">
            <a:avLst/>
          </a:prstGeom>
          <a:solidFill>
            <a:srgbClr val="888888"/>
          </a:solidFill>
          <a:ln/>
        </p:spPr>
      </p:sp>
      <p:sp>
        <p:nvSpPr>
          <p:cNvPr id="14" name="Shape 11"/>
          <p:cNvSpPr/>
          <p:nvPr/>
        </p:nvSpPr>
        <p:spPr>
          <a:xfrm>
            <a:off x="5532120" y="1371600"/>
            <a:ext cx="566928" cy="4572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15" name="Text 12"/>
          <p:cNvSpPr/>
          <p:nvPr/>
        </p:nvSpPr>
        <p:spPr>
          <a:xfrm>
            <a:off x="5532120" y="13716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N-1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99048" y="1481328"/>
            <a:ext cx="91440" cy="237744"/>
          </a:xfrm>
          <a:prstGeom prst="rightArrow">
            <a:avLst/>
          </a:prstGeom>
          <a:solidFill>
            <a:srgbClr val="888888"/>
          </a:solidFill>
          <a:ln/>
        </p:spPr>
      </p:sp>
      <p:sp>
        <p:nvSpPr>
          <p:cNvPr id="17" name="Shape 14"/>
          <p:cNvSpPr/>
          <p:nvPr/>
        </p:nvSpPr>
        <p:spPr>
          <a:xfrm>
            <a:off x="6172200" y="1371600"/>
            <a:ext cx="566928" cy="4572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18" name="Text 15"/>
          <p:cNvSpPr/>
          <p:nvPr/>
        </p:nvSpPr>
        <p:spPr>
          <a:xfrm>
            <a:off x="6172200" y="13716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739128" y="1481328"/>
            <a:ext cx="91440" cy="237744"/>
          </a:xfrm>
          <a:prstGeom prst="rightArrow">
            <a:avLst/>
          </a:prstGeom>
          <a:solidFill>
            <a:srgbClr val="888888"/>
          </a:solidFill>
          <a:ln/>
        </p:spPr>
      </p:sp>
      <p:sp>
        <p:nvSpPr>
          <p:cNvPr id="20" name="Shape 17"/>
          <p:cNvSpPr/>
          <p:nvPr/>
        </p:nvSpPr>
        <p:spPr>
          <a:xfrm>
            <a:off x="6812280" y="1371600"/>
            <a:ext cx="566928" cy="4572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21" name="Text 18"/>
          <p:cNvSpPr/>
          <p:nvPr/>
        </p:nvSpPr>
        <p:spPr>
          <a:xfrm>
            <a:off x="6812280" y="13716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379208" y="1481328"/>
            <a:ext cx="91440" cy="237744"/>
          </a:xfrm>
          <a:prstGeom prst="rightArrow">
            <a:avLst/>
          </a:prstGeom>
          <a:solidFill>
            <a:srgbClr val="888888"/>
          </a:solidFill>
          <a:ln/>
        </p:spPr>
      </p:sp>
      <p:sp>
        <p:nvSpPr>
          <p:cNvPr id="23" name="Shape 20"/>
          <p:cNvSpPr/>
          <p:nvPr/>
        </p:nvSpPr>
        <p:spPr>
          <a:xfrm>
            <a:off x="7452360" y="1371600"/>
            <a:ext cx="566928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4" name="Text 21"/>
          <p:cNvSpPr/>
          <p:nvPr/>
        </p:nvSpPr>
        <p:spPr>
          <a:xfrm>
            <a:off x="7452360" y="13716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9204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count_q, one decrement per timer_clk edge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892040" y="2240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count_q == 0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892040" y="256032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C00000"/>
          </a:solidFill>
          <a:ln/>
        </p:spPr>
      </p:sp>
      <p:sp>
        <p:nvSpPr>
          <p:cNvPr id="28" name="Text 25"/>
          <p:cNvSpPr/>
          <p:nvPr/>
        </p:nvSpPr>
        <p:spPr>
          <a:xfrm>
            <a:off x="4892040" y="2560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irq_pulse = 1 for exactly one timer_clk cycle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3977640"/>
            <a:ext cx="3931920" cy="384048"/>
          </a:xfrm>
          <a:prstGeom prst="rect">
            <a:avLst/>
          </a:prstGeom>
          <a:solidFill>
            <a:srgbClr val="538235"/>
          </a:solidFill>
          <a:ln/>
        </p:spPr>
      </p:sp>
      <p:sp>
        <p:nvSpPr>
          <p:cNvPr id="30" name="Text 27"/>
          <p:cNvSpPr/>
          <p:nvPr/>
        </p:nvSpPr>
        <p:spPr>
          <a:xfrm>
            <a:off x="621792" y="3977640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= 0 : Periodic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48640" y="4361688"/>
            <a:ext cx="3931920" cy="1764792"/>
          </a:xfrm>
          <a:prstGeom prst="rect">
            <a:avLst/>
          </a:prstGeom>
          <a:solidFill>
            <a:srgbClr val="E2EFDA"/>
          </a:solidFill>
          <a:ln/>
        </p:spPr>
      </p:sp>
      <p:sp>
        <p:nvSpPr>
          <p:cNvPr id="32" name="Text 29"/>
          <p:cNvSpPr/>
          <p:nvPr/>
        </p:nvSpPr>
        <p:spPr>
          <a:xfrm>
            <a:off x="676656" y="4434840"/>
            <a:ext cx="367588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count_q reloads with LOAD automatically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stays 1 — the timer keeps free-running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irq_pulse repeats every LOAD+1 cycles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heartbeat / periodic-tick style timers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663440" y="3977640"/>
            <a:ext cx="3931920" cy="384048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34" name="Text 31"/>
          <p:cNvSpPr/>
          <p:nvPr/>
        </p:nvSpPr>
        <p:spPr>
          <a:xfrm>
            <a:off x="4736592" y="3977640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= 1 : One-shot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4663440" y="4361688"/>
            <a:ext cx="3931920" cy="1764792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36" name="Text 33"/>
          <p:cNvSpPr/>
          <p:nvPr/>
        </p:nvSpPr>
        <p:spPr>
          <a:xfrm>
            <a:off x="4791456" y="4434840"/>
            <a:ext cx="367588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count_q holds at 0 after expiry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is auto-cleared the same cycle — timer stops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irq_pulse fires, then silence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one-time delays / watchdog-style timeouts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niel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265176"/>
            <a:ext cx="1170432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44752" y="329184"/>
            <a:ext cx="7296912" cy="438912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4" name="Text 1"/>
          <p:cNvSpPr/>
          <p:nvPr/>
        </p:nvSpPr>
        <p:spPr>
          <a:xfrm>
            <a:off x="1444752" y="329184"/>
            <a:ext cx="7296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Clock-Domain-Crossing Strategy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538235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510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29/07/2026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560320" y="6510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Timer Verification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83680" y="6510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10058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reusable primitives bridge s_axi_aclk ↔ timer_clk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3931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Primitive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Used For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Why It's Safe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</a:rPr>
                        <a:t>sync2ff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</a:rPr>
                        <a:t>(2-flop sync)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</a:rPr>
                        <a:t>cfg_en, cfg_mode, cfg_load level bits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</a:rPr>
                        <a:t>Two-stage resynchronisation lets a metastable sample resolve before use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</a:rPr>
                        <a:t>gray_ctr_sync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</a:rPr>
                        <a:t>Live count_q → count_sync_axi (COUNT reg)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</a:rPr>
                        <a:t>Binary→Gray means only one bit ever toggles per source edge — a 2FF sync can never sample a torn multi-bit value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</a:rPr>
                        <a:t>toggle_sync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</a:rPr>
                        <a:t>cfg_update_pulse, irq_pulse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</a:rPr>
                        <a:t>Source domain toggles a flop instead of pulsing it, so a fast pulse can never be swallowed by a slower destination clock; destination edge-detects the toggle back into a clean 1-cycle pulse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212080"/>
            <a:ext cx="8046720" cy="384048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12" name="Text 8"/>
          <p:cNvSpPr/>
          <p:nvPr/>
        </p:nvSpPr>
        <p:spPr>
          <a:xfrm>
            <a:off x="621792" y="5212080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 / MODE / LOAD Cross as One Atomic Bundle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5596128"/>
            <a:ext cx="8046720" cy="667512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14" name="Text 10"/>
          <p:cNvSpPr/>
          <p:nvPr/>
        </p:nvSpPr>
        <p:spPr>
          <a:xfrm>
            <a:off x="676656" y="5669280"/>
            <a:ext cx="77906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cfg_update_pulse is toggle-synced first; timer_core only samples EN, MODE and LOAD on that synchronised pulse, and register_bank holds them stable until it has propagated — so the three fields can never arrive “half-updated” relative to each other.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niel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265176"/>
            <a:ext cx="1170432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44752" y="329184"/>
            <a:ext cx="7296912" cy="438912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4" name="Text 1"/>
          <p:cNvSpPr/>
          <p:nvPr/>
        </p:nvSpPr>
        <p:spPr>
          <a:xfrm>
            <a:off x="1444752" y="329184"/>
            <a:ext cx="7296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Verification Environment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538235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510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29/07/2026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560320" y="6510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Timer Verification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83680" y="6510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05156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2E5496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051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timer_test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463040" y="1554480"/>
            <a:ext cx="274320" cy="219456"/>
          </a:xfrm>
          <a:prstGeom prst="downArrow">
            <a:avLst/>
          </a:prstGeom>
          <a:solidFill>
            <a:srgbClr val="888888"/>
          </a:solidFill>
          <a:ln/>
        </p:spPr>
      </p:sp>
      <p:sp>
        <p:nvSpPr>
          <p:cNvPr id="12" name="Shape 9"/>
          <p:cNvSpPr/>
          <p:nvPr/>
        </p:nvSpPr>
        <p:spPr>
          <a:xfrm>
            <a:off x="320040" y="1874520"/>
            <a:ext cx="2651760" cy="3246120"/>
          </a:xfrm>
          <a:prstGeom prst="rect">
            <a:avLst/>
          </a:prstGeom>
          <a:solidFill>
            <a:srgbClr val="D9E2F3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1920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timer_env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02920" y="2286000"/>
            <a:ext cx="22860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2E54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22860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timer_agent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(sequencer + driver + monitor)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2920" y="3291840"/>
            <a:ext cx="22860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2E549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2918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timer_scoreboard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(expected vs. actual)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4297680"/>
            <a:ext cx="22860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2E549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42976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timer_coverage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(functional coverage)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108960" y="3291840"/>
            <a:ext cx="457200" cy="320040"/>
          </a:xfrm>
          <a:prstGeom prst="rightArrow">
            <a:avLst/>
          </a:prstGeom>
          <a:solidFill>
            <a:srgbClr val="888888"/>
          </a:solidFill>
          <a:ln/>
        </p:spPr>
      </p:sp>
      <p:sp>
        <p:nvSpPr>
          <p:cNvPr id="21" name="Shape 18"/>
          <p:cNvSpPr/>
          <p:nvPr/>
        </p:nvSpPr>
        <p:spPr>
          <a:xfrm>
            <a:off x="3657600" y="2651760"/>
            <a:ext cx="1554480" cy="1280160"/>
          </a:xfrm>
          <a:prstGeom prst="roundRect">
            <a:avLst>
              <a:gd name="adj" fmla="val 4286"/>
            </a:avLst>
          </a:prstGeom>
          <a:solidFill>
            <a:srgbClr val="538235"/>
          </a:solidFill>
          <a:ln/>
        </p:spPr>
      </p:sp>
      <p:sp>
        <p:nvSpPr>
          <p:cNvPr id="22" name="Text 19"/>
          <p:cNvSpPr/>
          <p:nvPr/>
        </p:nvSpPr>
        <p:spPr>
          <a:xfrm>
            <a:off x="3703320" y="26517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timer_if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(virtual interface)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303520" y="3063240"/>
            <a:ext cx="365760" cy="457200"/>
          </a:xfrm>
          <a:prstGeom prst="rightArrow">
            <a:avLst/>
          </a:prstGeom>
          <a:solidFill>
            <a:srgbClr val="888888"/>
          </a:solidFill>
          <a:ln/>
        </p:spPr>
      </p:sp>
      <p:sp>
        <p:nvSpPr>
          <p:cNvPr id="24" name="Shape 21"/>
          <p:cNvSpPr/>
          <p:nvPr/>
        </p:nvSpPr>
        <p:spPr>
          <a:xfrm>
            <a:off x="5760720" y="2468880"/>
            <a:ext cx="2651760" cy="1645920"/>
          </a:xfrm>
          <a:prstGeom prst="roundRect">
            <a:avLst>
              <a:gd name="adj" fmla="val 3333"/>
            </a:avLst>
          </a:prstGeom>
          <a:solidFill>
            <a:srgbClr val="E2EFDA"/>
          </a:solidFill>
          <a:ln w="15875">
            <a:solidFill>
              <a:srgbClr val="53823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06440" y="246888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axi4lite_timer_top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(tb_top.dut)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623560" y="43891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Components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623560" y="47091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timer_txn (transaction)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timer_driver / timer_monitor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timer_sequencer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timer_pkg (env package)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20040" y="516636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Sequences Driven Through the Agent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20040" y="54864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reg_write_seq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reg_read_seq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reg_readback_seq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timer_smoke_seq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72000" y="54864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periodic_seq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oneshot_seq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w1c_negative_seq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niel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265176"/>
            <a:ext cx="1170432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44752" y="329184"/>
            <a:ext cx="7296912" cy="438912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4" name="Text 1"/>
          <p:cNvSpPr/>
          <p:nvPr/>
        </p:nvSpPr>
        <p:spPr>
          <a:xfrm>
            <a:off x="1444752" y="329184"/>
            <a:ext cx="7296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Tools &amp; Flow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538235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510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29/07/2026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560320" y="6510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Timer Verification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83680" y="6510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1572768" cy="1371600"/>
          </a:xfrm>
          <a:prstGeom prst="roundRect">
            <a:avLst>
              <a:gd name="adj" fmla="val 4000"/>
            </a:avLst>
          </a:prstGeom>
          <a:solidFill>
            <a:srgbClr val="2E5496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173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30352" y="178308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SystemVerilog design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(rtl/*.sv, bug_defines.svh)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039112" y="1920240"/>
            <a:ext cx="91440" cy="457200"/>
          </a:xfrm>
          <a:prstGeom prst="rightArrow">
            <a:avLst/>
          </a:prstGeom>
          <a:solidFill>
            <a:srgbClr val="888888"/>
          </a:solidFill>
          <a:ln/>
        </p:spPr>
      </p:sp>
      <p:sp>
        <p:nvSpPr>
          <p:cNvPr id="13" name="Shape 10"/>
          <p:cNvSpPr/>
          <p:nvPr/>
        </p:nvSpPr>
        <p:spPr>
          <a:xfrm>
            <a:off x="2139696" y="1371600"/>
            <a:ext cx="1572768" cy="1371600"/>
          </a:xfrm>
          <a:prstGeom prst="roundRect">
            <a:avLst>
              <a:gd name="adj" fmla="val 4000"/>
            </a:avLst>
          </a:prstGeom>
          <a:solidFill>
            <a:srgbClr val="538235"/>
          </a:solidFill>
          <a:ln/>
        </p:spPr>
      </p:sp>
      <p:sp>
        <p:nvSpPr>
          <p:cNvPr id="14" name="Text 11"/>
          <p:cNvSpPr/>
          <p:nvPr/>
        </p:nvSpPr>
        <p:spPr>
          <a:xfrm>
            <a:off x="2185416" y="14173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212848" y="178308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+ elaborate + simulate the UVM-1.2 testbench; FSDB dump enabled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721608" y="1920240"/>
            <a:ext cx="91440" cy="457200"/>
          </a:xfrm>
          <a:prstGeom prst="rightArrow">
            <a:avLst/>
          </a:prstGeom>
          <a:solidFill>
            <a:srgbClr val="888888"/>
          </a:solidFill>
          <a:ln/>
        </p:spPr>
      </p:sp>
      <p:sp>
        <p:nvSpPr>
          <p:cNvPr id="17" name="Shape 14"/>
          <p:cNvSpPr/>
          <p:nvPr/>
        </p:nvSpPr>
        <p:spPr>
          <a:xfrm>
            <a:off x="3822192" y="1371600"/>
            <a:ext cx="1572768" cy="1371600"/>
          </a:xfrm>
          <a:prstGeom prst="roundRect">
            <a:avLst>
              <a:gd name="adj" fmla="val 4000"/>
            </a:avLst>
          </a:prstGeom>
          <a:solidFill>
            <a:srgbClr val="2E5496"/>
          </a:solidFill>
          <a:ln/>
        </p:spPr>
      </p:sp>
      <p:sp>
        <p:nvSpPr>
          <p:cNvPr id="18" name="Text 15"/>
          <p:cNvSpPr/>
          <p:nvPr/>
        </p:nvSpPr>
        <p:spPr>
          <a:xfrm>
            <a:off x="3867912" y="14173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895344" y="178308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(nWave) + source-correlated debug against the live FSDB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404104" y="1920240"/>
            <a:ext cx="91440" cy="457200"/>
          </a:xfrm>
          <a:prstGeom prst="rightArrow">
            <a:avLst/>
          </a:prstGeom>
          <a:solidFill>
            <a:srgbClr val="888888"/>
          </a:solidFill>
          <a:ln/>
        </p:spPr>
      </p:sp>
      <p:sp>
        <p:nvSpPr>
          <p:cNvPr id="21" name="Shape 18"/>
          <p:cNvSpPr/>
          <p:nvPr/>
        </p:nvSpPr>
        <p:spPr>
          <a:xfrm>
            <a:off x="5504688" y="1371600"/>
            <a:ext cx="1572768" cy="1371600"/>
          </a:xfrm>
          <a:prstGeom prst="roundRect">
            <a:avLst>
              <a:gd name="adj" fmla="val 4000"/>
            </a:avLst>
          </a:prstGeom>
          <a:solidFill>
            <a:srgbClr val="538235"/>
          </a:solidFill>
          <a:ln/>
        </p:spPr>
      </p:sp>
      <p:sp>
        <p:nvSpPr>
          <p:cNvPr id="22" name="Text 19"/>
          <p:cNvSpPr/>
          <p:nvPr/>
        </p:nvSpPr>
        <p:spPr>
          <a:xfrm>
            <a:off x="5550408" y="14173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SpyGlass – Lint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577840" y="178308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RTL rule checks (lint/lint_rtl goal)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086600" y="1920240"/>
            <a:ext cx="91440" cy="457200"/>
          </a:xfrm>
          <a:prstGeom prst="rightArrow">
            <a:avLst/>
          </a:prstGeom>
          <a:solidFill>
            <a:srgbClr val="888888"/>
          </a:solidFill>
          <a:ln/>
        </p:spPr>
      </p:sp>
      <p:sp>
        <p:nvSpPr>
          <p:cNvPr id="25" name="Shape 22"/>
          <p:cNvSpPr/>
          <p:nvPr/>
        </p:nvSpPr>
        <p:spPr>
          <a:xfrm>
            <a:off x="7187184" y="1371600"/>
            <a:ext cx="1572768" cy="1371600"/>
          </a:xfrm>
          <a:prstGeom prst="roundRect">
            <a:avLst>
              <a:gd name="adj" fmla="val 4000"/>
            </a:avLst>
          </a:prstGeom>
          <a:solidFill>
            <a:srgbClr val="2E5496"/>
          </a:solidFill>
          <a:ln/>
        </p:spPr>
      </p:sp>
      <p:sp>
        <p:nvSpPr>
          <p:cNvPr id="26" name="Text 23"/>
          <p:cNvSpPr/>
          <p:nvPr/>
        </p:nvSpPr>
        <p:spPr>
          <a:xfrm>
            <a:off x="7232904" y="14173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SpyGlass – CDC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260336" y="178308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clock-domain-crossing verification against the SGDC constraints (cdc/cdc_verify_struct goal)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57200" y="30632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SGDC — SpyGlass Design Constraints (constraints/axi4lite_timer.sgdc)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57200" y="3383280"/>
            <a:ext cx="8229600" cy="868680"/>
          </a:xfrm>
          <a:prstGeom prst="rect">
            <a:avLst/>
          </a:prstGeom>
          <a:solidFill>
            <a:srgbClr val="F2F2F2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3456432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current_design axi4lite_timer_top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clock -name s_axi_aclk        clock -name timer_clk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 -name s_axi_aresetn -value 0        reset -name timer_rst_n -value 0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57200" y="4434840"/>
            <a:ext cx="3977640" cy="384048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2" name="Text 29"/>
          <p:cNvSpPr/>
          <p:nvPr/>
        </p:nvSpPr>
        <p:spPr>
          <a:xfrm>
            <a:off x="530352" y="4434840"/>
            <a:ext cx="3831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Verification (VCS + Verdi)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457200" y="4818888"/>
            <a:ext cx="3977640" cy="1353312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34" name="Text 31"/>
          <p:cNvSpPr/>
          <p:nvPr/>
        </p:nvSpPr>
        <p:spPr>
          <a:xfrm>
            <a:off x="585216" y="4892040"/>
            <a:ext cx="37216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Constrained-random + directed UVM sequences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Scoreboard checks register behaviour and IRQ expiry timing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 correlates waveform activity back to RTL source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617720" y="4434840"/>
            <a:ext cx="3977640" cy="384048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6" name="Text 33"/>
          <p:cNvSpPr/>
          <p:nvPr/>
        </p:nvSpPr>
        <p:spPr>
          <a:xfrm>
            <a:off x="4690872" y="4434840"/>
            <a:ext cx="3831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Verification (SpyGlass)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4617720" y="4818888"/>
            <a:ext cx="3977640" cy="1353312"/>
          </a:xfrm>
          <a:prstGeom prst="rect">
            <a:avLst/>
          </a:prstGeom>
          <a:solidFill>
            <a:srgbClr val="E2EFDA"/>
          </a:solidFill>
          <a:ln/>
        </p:spPr>
      </p:sp>
      <p:sp>
        <p:nvSpPr>
          <p:cNvPr id="38" name="Text 35"/>
          <p:cNvSpPr/>
          <p:nvPr/>
        </p:nvSpPr>
        <p:spPr>
          <a:xfrm>
            <a:off x="4745736" y="4892040"/>
            <a:ext cx="37216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Lint: structural RTL rule checking, no testbench needed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CDC: proves every clock crossing is properly synchronised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per RTL change — catches issues stimulus might miss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niel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265176"/>
            <a:ext cx="1170432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44752" y="329184"/>
            <a:ext cx="7296912" cy="438912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4" name="Text 1"/>
          <p:cNvSpPr/>
          <p:nvPr/>
        </p:nvSpPr>
        <p:spPr>
          <a:xfrm>
            <a:off x="1444752" y="329184"/>
            <a:ext cx="7296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 Waveform Walkthrough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538235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510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29/07/2026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560320" y="6510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Timer Verification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83680" y="6510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pic>
        <p:nvPicPr>
          <p:cNvPr id="9" name="Image 1" descr="/home/claude/build/assets/verdi_wavefo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6400800" cy="35204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1480" y="4544568"/>
            <a:ext cx="8321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AXI4-Lite writes push new LOAD values (0x1234, 0xAC, 0x10, 0xA) into the register bank; each write pulses cfg_update_pulse for one s_axi_aclk cycle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pulse is toggle-synchronised into timer_clk, where timer_core loads count_q = LOAD and decrements every timer_clk edge — the dense toggling on count_sync_axi is the down-counter changing almost every cycle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count_q reaches 0, irq_pulse fires for one cycle; toggle-synced back to the AXI domain it sets STATUS.INTR, which (with CTRL.IE=1) drives irq high — seen as the pulses on the irq trace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niel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265176"/>
            <a:ext cx="1170432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44752" y="329184"/>
            <a:ext cx="7296912" cy="438912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4" name="Text 1"/>
          <p:cNvSpPr/>
          <p:nvPr/>
        </p:nvSpPr>
        <p:spPr>
          <a:xfrm>
            <a:off x="1444752" y="329184"/>
            <a:ext cx="7296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Sign-off — Lint (SpyGlass)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538235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510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29/07/2026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560320" y="6510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Timer Verification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83680" y="6510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pic>
        <p:nvPicPr>
          <p:cNvPr id="9" name="Image 1" descr="/home/claude/build/assets/spyglass_l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914400"/>
            <a:ext cx="6126480" cy="33695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4393692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lint/lint_rtl on top module axi4lite_timer_top — the SpyGlass instance tree mirrors the RTL hierarchy exactly: u_regs, u_cfg_sync, u_en_sync, u_mode_sync, u_load_sync, u_timer, u_count_sync, u_irq_sync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baseline run: 0 errors, 0 warnings reported — confirms the RTL is structurally sound before any bug is injected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niel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265176"/>
            <a:ext cx="1170432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44752" y="329184"/>
            <a:ext cx="7296912" cy="438912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4" name="Text 1"/>
          <p:cNvSpPr/>
          <p:nvPr/>
        </p:nvSpPr>
        <p:spPr>
          <a:xfrm>
            <a:off x="1444752" y="329184"/>
            <a:ext cx="7296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Sign-off — CDC (SpyGlass)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538235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510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29/07/2026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560320" y="6510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Timer Verification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83680" y="6510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pic>
        <p:nvPicPr>
          <p:cNvPr id="9" name="Image 1" descr="/home/claude/build/assets/spyglass_cd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914400"/>
            <a:ext cx="5760720" cy="31683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4192524"/>
            <a:ext cx="8229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cdc/cdc_verify_struct, Advance-CDC technology: Unsynchronised clock-domain crossings = 0 — every s_axi_aclk ↔ timer_clk path is properly synchronised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convergence points reported (informational) — the EN / MODE / LOAD bundle re-converging in timer_core, exactly the case the atomic toggle-sync scheme is designed to handle safely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errors, 38 warnings / 29 infos, all informational — no blocking CDC violations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niel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265176"/>
            <a:ext cx="1170432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44752" y="329184"/>
            <a:ext cx="7296912" cy="438912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4" name="Text 1"/>
          <p:cNvSpPr/>
          <p:nvPr/>
        </p:nvSpPr>
        <p:spPr>
          <a:xfrm>
            <a:off x="1444752" y="329184"/>
            <a:ext cx="7296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Bug-Injection Study — Method &amp; Catch Matrix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538235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510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29/07/2026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560320" y="6510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Timer Verification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83680" y="6510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9875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bugs, each behind a compile-time `ifdef in bug_defines.svh, were injected one at a time and pushed through the full UVM regression and SpyGlass lint/CDC — to see, with real data, which method actually catches which class of defect.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  <a:gridCol w="237744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Bug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UVM Scoreboard Result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Caught By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F1F"/>
                          </a:solidFill>
                        </a:rPr>
                        <a:t>BASELINE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</a:rPr>
                        <a:t>16 passed / 0 failed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</a:rPr>
                        <a:t>— (clean)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F1F"/>
                          </a:solidFill>
                        </a:rPr>
                        <a:t>BUG1  CDC_NO_SYNC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</a:rPr>
                        <a:t>CDC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</a:rPr>
                        <a:t>11 passed / 3 failed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</a:rPr>
                        <a:t>UVM + CDC tool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F1F"/>
                          </a:solidFill>
                        </a:rPr>
                        <a:t>BUG2  CDC_SINGLE_FF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</a:rPr>
                        <a:t>CDC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</a:rPr>
                        <a:t>12 passed / 3 failed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</a:rPr>
                        <a:t>UVM + CDC tool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F1F"/>
                          </a:solidFill>
                        </a:rPr>
                        <a:t>BUG3  LINT_WIDTH_MISMATCH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</a:rPr>
                        <a:t>Lint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</a:rPr>
                        <a:t>16 passed / 0 failed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</a:rPr>
                        <a:t>Lint tool only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F1F"/>
                          </a:solidFill>
                        </a:rPr>
                        <a:t>BUG4  LINT_INFERRED_LATCH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</a:rPr>
                        <a:t>Lint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</a:rPr>
                        <a:t>16 passed / 0 failed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</a:rPr>
                        <a:t>Lint tool only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F1F"/>
                          </a:solidFill>
                        </a:rPr>
                        <a:t>BUG5  LINT_MULTIDRIVEN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</a:rPr>
                        <a:t>Lint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</a:rPr>
                        <a:t>VCS elaboration error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</a:rPr>
                        <a:t>Compiler + Lint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F1F"/>
                          </a:solidFill>
                        </a:rPr>
                        <a:t>BUG6  FUNC_OFFBYONE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</a:rPr>
                        <a:t>Functional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</a:rPr>
                        <a:t>14 passed / 2 failed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</a:rPr>
                        <a:t>UVM scoreboard only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F1F"/>
                          </a:solidFill>
                        </a:rPr>
                        <a:t>BUG7  FUNC_W1C_BROKEN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</a:rPr>
                        <a:t>Functional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</a:rPr>
                        <a:t>16 passed / 1 failed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</a:rPr>
                        <a:t>UVM scoreboard only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440680"/>
            <a:ext cx="8046720" cy="38404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2" name="Text 8"/>
          <p:cNvSpPr/>
          <p:nvPr/>
        </p:nvSpPr>
        <p:spPr>
          <a:xfrm>
            <a:off x="621792" y="5440680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Result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5824728"/>
            <a:ext cx="8046720" cy="484632"/>
          </a:xfrm>
          <a:prstGeom prst="rect">
            <a:avLst/>
          </a:prstGeom>
          <a:solidFill>
            <a:srgbClr val="FDE9E9"/>
          </a:solidFill>
          <a:ln/>
        </p:spPr>
      </p:sp>
      <p:sp>
        <p:nvSpPr>
          <p:cNvPr id="14" name="Text 10"/>
          <p:cNvSpPr/>
          <p:nvPr/>
        </p:nvSpPr>
        <p:spPr>
          <a:xfrm>
            <a:off x="676656" y="5897880"/>
            <a:ext cx="77906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BUG3 and BUG4 pass UVM exactly like the clean baseline (16/0) — pure structural lint defects are functionally invisible to simulation and are caught only by static analysis; BUG5 never even reaches simulation, failing at VCS elaboration.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niel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265176"/>
            <a:ext cx="1170432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44752" y="329184"/>
            <a:ext cx="7296912" cy="438912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4" name="Text 1"/>
          <p:cNvSpPr/>
          <p:nvPr/>
        </p:nvSpPr>
        <p:spPr>
          <a:xfrm>
            <a:off x="1444752" y="329184"/>
            <a:ext cx="7296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&amp; Scoreboard Summary — Baseline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538235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510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29/07/2026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560320" y="6510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Timer Verification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83680" y="6510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109728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D9E2F3"/>
          </a:solidFill>
          <a:ln w="12700">
            <a:solidFill>
              <a:srgbClr val="5382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234440"/>
            <a:ext cx="2587752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3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40080" y="214884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Scoreboard checks passed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73552" y="109728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D9E2F3"/>
          </a:solidFill>
          <a:ln w="12700">
            <a:solidFill>
              <a:srgbClr val="53823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73552" y="1234440"/>
            <a:ext cx="2587752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3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3364992" y="214884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UVM_ERROR reports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98464" y="109728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D9E2F3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98464" y="1234440"/>
            <a:ext cx="2587752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79.2%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6089904" y="214884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Register-access coverage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288036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D9E2F3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017520"/>
            <a:ext cx="2587752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93.8%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40080" y="393192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CTRL-field coverage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73552" y="288036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D9E2F3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73552" y="3017520"/>
            <a:ext cx="2587752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3364992" y="393192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write-1-to-clear coverage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998464" y="288036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D9E2F3"/>
          </a:solidFill>
          <a:ln w="12700">
            <a:solidFill>
              <a:srgbClr val="53823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98464" y="3017520"/>
            <a:ext cx="2587752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3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: 0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6089904" y="393192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SpyGlass lint errors : warnings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" y="4709160"/>
            <a:ext cx="8046720" cy="384048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28" name="Text 25"/>
          <p:cNvSpPr/>
          <p:nvPr/>
        </p:nvSpPr>
        <p:spPr>
          <a:xfrm>
            <a:off x="621792" y="4709160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Numbers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48640" y="5093208"/>
            <a:ext cx="8046720" cy="1033272"/>
          </a:xfrm>
          <a:prstGeom prst="rect">
            <a:avLst/>
          </a:prstGeom>
          <a:solidFill>
            <a:srgbClr val="E2EFDA"/>
          </a:solidFill>
          <a:ln/>
        </p:spPr>
      </p:sp>
      <p:sp>
        <p:nvSpPr>
          <p:cNvPr id="30" name="Text 27"/>
          <p:cNvSpPr/>
          <p:nvPr/>
        </p:nvSpPr>
        <p:spPr>
          <a:xfrm>
            <a:off x="676656" y="5166360"/>
            <a:ext cx="77906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(no injected bug) run is fully clean: every scoreboard check passes and SpyGlass lint reports zero errors and zero warnings on the RTL.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highlights reg_access as the area with the most remaining headroom — a natural next step is adding sequences that exercise the untouched address/strobe combinations.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niel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265176"/>
            <a:ext cx="1170432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44752" y="329184"/>
            <a:ext cx="7296912" cy="438912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4" name="Text 1"/>
          <p:cNvSpPr/>
          <p:nvPr/>
        </p:nvSpPr>
        <p:spPr>
          <a:xfrm>
            <a:off x="1444752" y="329184"/>
            <a:ext cx="7296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Summary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538235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510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29/07/2026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560320" y="6510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Timer Verification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83680" y="6510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10058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1325880"/>
            <a:ext cx="3931920" cy="384048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1325880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CDC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1709928"/>
            <a:ext cx="3931920" cy="1901952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13" name="Text 10"/>
          <p:cNvSpPr/>
          <p:nvPr/>
        </p:nvSpPr>
        <p:spPr>
          <a:xfrm>
            <a:off x="676656" y="1783080"/>
            <a:ext cx="367588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CDC-safe design: 2FF, Gray-code, toggle synchronisers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multi-signal configuration crossing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AXI4-Lite write/read FSM implementation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63440" y="1325880"/>
            <a:ext cx="3931920" cy="384048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15" name="Text 12"/>
          <p:cNvSpPr/>
          <p:nvPr/>
        </p:nvSpPr>
        <p:spPr>
          <a:xfrm>
            <a:off x="4736592" y="1325880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1709928"/>
            <a:ext cx="3931920" cy="1901952"/>
          </a:xfrm>
          <a:prstGeom prst="rect">
            <a:avLst/>
          </a:prstGeom>
          <a:solidFill>
            <a:srgbClr val="E2EFDA"/>
          </a:solidFill>
          <a:ln/>
        </p:spPr>
      </p:sp>
      <p:sp>
        <p:nvSpPr>
          <p:cNvPr id="17" name="Text 14"/>
          <p:cNvSpPr/>
          <p:nvPr/>
        </p:nvSpPr>
        <p:spPr>
          <a:xfrm>
            <a:off x="4791456" y="1783080"/>
            <a:ext cx="367588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environment: agent, scoreboard, coverage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+ scenario sequences (periodic, one-shot, W1C)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vs. dynamic method comparison, data-backed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3840480"/>
            <a:ext cx="8046720" cy="1691640"/>
          </a:xfrm>
          <a:prstGeom prst="rect">
            <a:avLst/>
          </a:prstGeom>
          <a:solidFill>
            <a:srgbClr val="F2F2F2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3931920"/>
            <a:ext cx="7680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verifies a dual-clock AXI4-Lite programmable timer using a UVM testbench (VCS + Verdi) alongside SpyGlass static lint and CDC sign-off, then quantifies each method's blind spots by injecting seven real bugs across CDC, lint, and functional categories — showing concretely why sign-off VLSI verification needs both dynamic simulation and static structural analysis, not just one.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54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niel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65960"/>
            <a:ext cx="1965960" cy="8503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2026-07-29T07:32:33Z</dcterms:created>
  <dcterms:modified xsi:type="dcterms:W3CDTF">2026-07-29T07:32:33Z</dcterms:modified>
</cp:coreProperties>
</file>